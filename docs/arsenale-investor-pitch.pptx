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Root Causes of Data Breaches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of Breaches</c:v>
                </c:pt>
              </c:strCache>
            </c:strRef>
          </c:tx>
          <c:dPt>
            <c:idx val="0"/>
            <c:spPr>
              <a:solidFill>
                <a:srgbClr val="FF6B6B"/>
              </a:solidFill>
            </c:spPr>
          </c:dPt>
          <c:dPt>
            <c:idx val="1"/>
            <c:spPr>
              <a:solidFill>
                <a:srgbClr val="FF9F43"/>
              </a:solidFill>
            </c:spPr>
          </c:dPt>
          <c:dPt>
            <c:idx val="2"/>
            <c:spPr>
              <a:solidFill>
                <a:srgbClr val="A05CFF"/>
              </a:solidFill>
            </c:spPr>
          </c:dPt>
          <c:dPt>
            <c:idx val="3"/>
            <c:spPr>
              <a:solidFill>
                <a:srgbClr val="388EFF"/>
              </a:solidFill>
            </c:spPr>
          </c:dPt>
          <c:dPt>
            <c:idx val="4"/>
            <c:spPr>
              <a:solidFill>
                <a:srgbClr val="A0A8B8"/>
              </a:solidFill>
            </c:spPr>
          </c:dPt>
          <c:cat>
            <c:strRef>
              <c:f>Sheet1!$A$2:$A$6</c:f>
              <c:strCache>
                <c:ptCount val="5"/>
                <c:pt idx="0">
                  <c:v>Stolen
Credentials</c:v>
                </c:pt>
                <c:pt idx="1">
                  <c:v>Phishing</c:v>
                </c:pt>
                <c:pt idx="2">
                  <c:v>Vulnerability
Exploit</c:v>
                </c:pt>
                <c:pt idx="3">
                  <c:v>Misconfig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16</c:v>
                </c:pt>
                <c:pt idx="2">
                  <c:v>14</c:v>
                </c:pt>
                <c:pt idx="3">
                  <c:v>12</c:v>
                </c:pt>
                <c:pt idx="4">
                  <c:v>27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A0A8B8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Global AI Datacenter CapEx ($B)</a:t>
            </a:r>
          </a:p>
        </c:rich>
      </c:tx>
      <c:layout/>
      <c:overlay val="0"/>
    </c:title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AI Datacenter CapEx ($B)</c:v>
                </c:pt>
              </c:strCache>
            </c:strRef>
          </c:tx>
          <c:spPr>
            <a:solidFill>
              <a:srgbClr val="00D4AA"/>
            </a:solidFill>
          </c:spPr>
          <c:cat>
            <c:strRef>
              <c:f>Sheet1!$A$2:$A$8</c:f>
              <c:strCache>
                <c:ptCount val="7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2025E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35</c:v>
                </c:pt>
                <c:pt idx="1">
                  <c:v>55</c:v>
                </c:pt>
                <c:pt idx="2">
                  <c:v>96</c:v>
                </c:pt>
                <c:pt idx="3">
                  <c:v>150</c:v>
                </c:pt>
                <c:pt idx="4">
                  <c:v>210</c:v>
                </c:pt>
                <c:pt idx="5">
                  <c:v>270</c:v>
                </c:pt>
                <c:pt idx="6">
                  <c:v>340</c:v>
                </c:pt>
              </c:numCache>
            </c:numRef>
          </c:val>
        </c:ser>
        <c:dLbls>
          <c:numFmt formatCode="$#,##0&quot;B&quot;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 w="6350">
              <a:solidFill>
                <a:srgbClr val="2A344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A0A8B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TAM: PAM + ZTNA Market Growth ($B)</a:t>
            </a:r>
          </a:p>
        </c:rich>
      </c:tx>
      <c:layout/>
      <c:overlay val="0"/>
    </c:title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PAM Market ($B)</c:v>
                </c:pt>
              </c:strCache>
            </c:strRef>
          </c:tx>
          <c:spPr>
            <a:ln w="38100">
              <a:solidFill>
                <a:srgbClr val="00D4AA"/>
              </a:solidFill>
            </a:ln>
          </c:spPr>
          <c:marker>
            <c:symbol val="circle"/>
            <c:size val="8"/>
            <c:spPr>
              <a:solidFill>
                <a:srgbClr val="00D4AA"/>
              </a:solidFill>
            </c:spPr>
          </c:marker>
          <c:cat>
            <c:strRef>
              <c:f>Sheet1!$A$2:$A$9</c:f>
              <c:strCache>
                <c:ptCount val="8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  <c:pt idx="6">
                  <c:v>2029E</c:v>
                </c:pt>
                <c:pt idx="7">
                  <c:v>2030E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2.6</c:v>
                </c:pt>
                <c:pt idx="1">
                  <c:v>3.1</c:v>
                </c:pt>
                <c:pt idx="2">
                  <c:v>3.8</c:v>
                </c:pt>
                <c:pt idx="3">
                  <c:v>4.8</c:v>
                </c:pt>
                <c:pt idx="4">
                  <c:v>6.1</c:v>
                </c:pt>
                <c:pt idx="5">
                  <c:v>7.8</c:v>
                </c:pt>
                <c:pt idx="6">
                  <c:v>10.0</c:v>
                </c:pt>
                <c:pt idx="7">
                  <c:v>12.9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ZTNA Market ($B)</c:v>
                </c:pt>
              </c:strCache>
            </c:strRef>
          </c:tx>
          <c:spPr>
            <a:ln w="38100">
              <a:solidFill>
                <a:srgbClr val="388EFF"/>
              </a:solidFill>
            </a:ln>
          </c:spPr>
          <c:marker>
            <c:symbol val="circle"/>
            <c:size val="8"/>
            <c:spPr>
              <a:solidFill>
                <a:srgbClr val="388EFF"/>
              </a:solidFill>
            </c:spPr>
          </c:marker>
          <c:cat>
            <c:strRef>
              <c:f>Sheet1!$A$2:$A$9</c:f>
              <c:strCache>
                <c:ptCount val="8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  <c:pt idx="6">
                  <c:v>2029E</c:v>
                </c:pt>
                <c:pt idx="7">
                  <c:v>2030E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1.8</c:v>
                </c:pt>
                <c:pt idx="1">
                  <c:v>2.9</c:v>
                </c:pt>
                <c:pt idx="2">
                  <c:v>4.2</c:v>
                </c:pt>
                <c:pt idx="3">
                  <c:v>5.5</c:v>
                </c:pt>
                <c:pt idx="4">
                  <c:v>7.0</c:v>
                </c:pt>
                <c:pt idx="5">
                  <c:v>8.8</c:v>
                </c:pt>
                <c:pt idx="6">
                  <c:v>11.0</c:v>
                </c:pt>
                <c:pt idx="7">
                  <c:v>14.0</c:v>
                </c:pt>
              </c:numCache>
            </c:numRef>
          </c:val>
          <c:smooth val="0"/>
        </c:ser>
        <c:dLbls>
          <c:numFmt formatCode="$#,##0.0&quot;B&quot;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>
          <c:spPr>
            <a:ln w="6350">
              <a:solidFill>
                <a:srgbClr val="2A344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A0A8B8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A0A8B8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Cost ($K)</c:v>
                </c:pt>
              </c:strCache>
            </c:strRef>
          </c:tx>
          <c:spPr>
            <a:solidFill>
              <a:srgbClr val="FF6B6B"/>
            </a:solidFill>
          </c:spPr>
          <c:cat>
            <c:strRef>
              <c:f>Sheet1!$A$2:$A$7</c:f>
              <c:strCache>
                <c:ptCount val="6"/>
                <c:pt idx="0">
                  <c:v>CyberArk</c:v>
                </c:pt>
                <c:pt idx="1">
                  <c:v>BeyondTrust</c:v>
                </c:pt>
                <c:pt idx="2">
                  <c:v>Teleport</c:v>
                </c:pt>
                <c:pt idx="3">
                  <c:v>StrongDM</c:v>
                </c:pt>
                <c:pt idx="4">
                  <c:v>Guacamole
(OSS)</c:v>
                </c:pt>
                <c:pt idx="5">
                  <c:v>Arsenale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150</c:v>
                </c:pt>
                <c:pt idx="1">
                  <c:v>120</c:v>
                </c:pt>
                <c:pt idx="2">
                  <c:v>60</c:v>
                </c:pt>
                <c:pt idx="3">
                  <c:v>45</c:v>
                </c:pt>
                <c:pt idx="4">
                  <c:v>0</c:v>
                </c:pt>
                <c:pt idx="5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Deploy Time (weeks)</c:v>
                </c:pt>
              </c:strCache>
            </c:strRef>
          </c:tx>
          <c:spPr>
            <a:solidFill>
              <a:srgbClr val="00D4AA"/>
            </a:solidFill>
          </c:spPr>
          <c:cat>
            <c:strRef>
              <c:f>Sheet1!$A$2:$A$7</c:f>
              <c:strCache>
                <c:ptCount val="6"/>
                <c:pt idx="0">
                  <c:v>CyberArk</c:v>
                </c:pt>
                <c:pt idx="1">
                  <c:v>BeyondTrust</c:v>
                </c:pt>
                <c:pt idx="2">
                  <c:v>Teleport</c:v>
                </c:pt>
                <c:pt idx="3">
                  <c:v>StrongDM</c:v>
                </c:pt>
                <c:pt idx="4">
                  <c:v>Guacamole
(OSS)</c:v>
                </c:pt>
                <c:pt idx="5">
                  <c:v>Arsenale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</c:v>
                </c:pt>
                <c:pt idx="1">
                  <c:v>20</c:v>
                </c:pt>
                <c:pt idx="2">
                  <c:v>8</c:v>
                </c:pt>
                <c:pt idx="3">
                  <c:v>6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Gridlines>
          <c:spPr>
            <a:ln w="6350">
              <a:solidFill>
                <a:srgbClr val="2A344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A0A8B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dPt>
            <c:idx val="0"/>
            <c:spPr>
              <a:solidFill>
                <a:srgbClr val="00D4AA"/>
              </a:solidFill>
            </c:spPr>
          </c:dPt>
          <c:dPt>
            <c:idx val="1"/>
            <c:spPr>
              <a:solidFill>
                <a:srgbClr val="388EFF"/>
              </a:solidFill>
            </c:spPr>
          </c:dPt>
          <c:dPt>
            <c:idx val="2"/>
            <c:spPr>
              <a:solidFill>
                <a:srgbClr val="A05CFF"/>
              </a:solidFill>
            </c:spPr>
          </c:dPt>
          <c:dPt>
            <c:idx val="3"/>
            <c:spPr>
              <a:solidFill>
                <a:srgbClr val="FF9F43"/>
              </a:solidFill>
            </c:spPr>
          </c:dPt>
          <c:dPt>
            <c:idx val="4"/>
            <c:spPr>
              <a:solidFill>
                <a:srgbClr val="FF6B6B"/>
              </a:solidFill>
            </c:spPr>
          </c:dPt>
          <c:dPt>
            <c:idx val="5"/>
            <c:spPr>
              <a:solidFill>
                <a:srgbClr val="00D4AA"/>
              </a:solidFill>
            </c:spPr>
          </c:dPt>
          <c:cat>
            <c:strRef>
              <c:f>Sheet1!$A$2:$A$7</c:f>
              <c:strCache>
                <c:ptCount val="6"/>
                <c:pt idx="0">
                  <c:v>API Routes</c:v>
                </c:pt>
                <c:pt idx="1">
                  <c:v>DB Models</c:v>
                </c:pt>
                <c:pt idx="2">
                  <c:v>Zustand
Stores</c:v>
                </c:pt>
                <c:pt idx="3">
                  <c:v>Background
Jobs</c:v>
                </c:pt>
                <c:pt idx="4">
                  <c:v>Audit
Actions</c:v>
                </c:pt>
                <c:pt idx="5">
                  <c:v>Themes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</c:v>
                </c:pt>
                <c:pt idx="1">
                  <c:v>32</c:v>
                </c:pt>
                <c:pt idx="2">
                  <c:v>15</c:v>
                </c:pt>
                <c:pt idx="3">
                  <c:v>12</c:v>
                </c:pt>
                <c:pt idx="4">
                  <c:v>100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 w="6350">
              <a:solidFill>
                <a:srgbClr val="2A344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A0A8B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Security Coverage (0-10)</a:t>
            </a:r>
          </a:p>
        </c:rich>
      </c:tx>
      <c:layout/>
      <c:overlay val="0"/>
    </c:title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Arsenale</c:v>
                </c:pt>
              </c:strCache>
            </c:strRef>
          </c:tx>
          <c:spPr>
            <a:solidFill>
              <a:srgbClr val="00D4AA"/>
            </a:solidFill>
          </c:spPr>
          <c:cat>
            <c:strRef>
              <c:f>Sheet1!$A$2:$A$9</c:f>
              <c:strCache>
                <c:ptCount val="8"/>
                <c:pt idx="0">
                  <c:v>Encryption</c:v>
                </c:pt>
                <c:pt idx="1">
                  <c:v>MFA</c:v>
                </c:pt>
                <c:pt idx="2">
                  <c:v>RBAC</c:v>
                </c:pt>
                <c:pt idx="3">
                  <c:v>Audit</c:v>
                </c:pt>
                <c:pt idx="4">
                  <c:v>Zero Trust</c:v>
                </c:pt>
                <c:pt idx="5">
                  <c:v>DLP</c:v>
                </c:pt>
                <c:pt idx="6">
                  <c:v>SSO</c:v>
                </c:pt>
                <c:pt idx="7">
                  <c:v>Compliance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9</c:v>
                </c:pt>
                <c:pt idx="6">
                  <c:v>10</c:v>
                </c:pt>
                <c:pt idx="7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Legacy PAM</c:v>
                </c:pt>
              </c:strCache>
            </c:strRef>
          </c:tx>
          <c:spPr>
            <a:solidFill>
              <a:srgbClr val="FF9F43"/>
            </a:solidFill>
          </c:spPr>
          <c:cat>
            <c:strRef>
              <c:f>Sheet1!$A$2:$A$9</c:f>
              <c:strCache>
                <c:ptCount val="8"/>
                <c:pt idx="0">
                  <c:v>Encryption</c:v>
                </c:pt>
                <c:pt idx="1">
                  <c:v>MFA</c:v>
                </c:pt>
                <c:pt idx="2">
                  <c:v>RBAC</c:v>
                </c:pt>
                <c:pt idx="3">
                  <c:v>Audit</c:v>
                </c:pt>
                <c:pt idx="4">
                  <c:v>Zero Trust</c:v>
                </c:pt>
                <c:pt idx="5">
                  <c:v>DLP</c:v>
                </c:pt>
                <c:pt idx="6">
                  <c:v>SSO</c:v>
                </c:pt>
                <c:pt idx="7">
                  <c:v>Compliance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8</c:v>
                </c:pt>
                <c:pt idx="1">
                  <c:v>7</c:v>
                </c:pt>
                <c:pt idx="2">
                  <c:v>8</c:v>
                </c:pt>
                <c:pt idx="3">
                  <c:v>7</c:v>
                </c:pt>
                <c:pt idx="4">
                  <c:v>4</c:v>
                </c:pt>
                <c:pt idx="5">
                  <c:v>6</c:v>
                </c:pt>
                <c:pt idx="6">
                  <c:v>8</c:v>
                </c:pt>
                <c:pt idx="7">
                  <c:v>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OSS Guacamole</c:v>
                </c:pt>
              </c:strCache>
            </c:strRef>
          </c:tx>
          <c:spPr>
            <a:solidFill>
              <a:srgbClr val="A0A8B8"/>
            </a:solidFill>
          </c:spPr>
          <c:cat>
            <c:strRef>
              <c:f>Sheet1!$A$2:$A$9</c:f>
              <c:strCache>
                <c:ptCount val="8"/>
                <c:pt idx="0">
                  <c:v>Encryption</c:v>
                </c:pt>
                <c:pt idx="1">
                  <c:v>MFA</c:v>
                </c:pt>
                <c:pt idx="2">
                  <c:v>RBAC</c:v>
                </c:pt>
                <c:pt idx="3">
                  <c:v>Audit</c:v>
                </c:pt>
                <c:pt idx="4">
                  <c:v>Zero Trust</c:v>
                </c:pt>
                <c:pt idx="5">
                  <c:v>DLP</c:v>
                </c:pt>
                <c:pt idx="6">
                  <c:v>SSO</c:v>
                </c:pt>
                <c:pt idx="7">
                  <c:v>Compliance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Gridlines>
          <c:spPr>
            <a:ln w="6350">
              <a:solidFill>
                <a:srgbClr val="2A344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A0A8B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Feature Distribution by Category</a:t>
            </a:r>
          </a:p>
        </c:rich>
      </c:tx>
      <c:layout/>
      <c:overlay val="0"/>
    </c:title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API Endpoints</c:v>
                </c:pt>
              </c:strCache>
            </c:strRef>
          </c:tx>
          <c:spPr>
            <a:solidFill>
              <a:srgbClr val="00D4AA"/>
            </a:solidFill>
          </c:spPr>
          <c:cat>
            <c:strRef>
              <c:f>Sheet1!$A$2:$A$7</c:f>
              <c:strCache>
                <c:ptCount val="6"/>
                <c:pt idx="0">
                  <c:v>Auth &amp;
Identity</c:v>
                </c:pt>
                <c:pt idx="1">
                  <c:v>Vault &amp;
Secrets</c:v>
                </c:pt>
                <c:pt idx="2">
                  <c:v>Connections
&amp; Sessions</c:v>
                </c:pt>
                <c:pt idx="3">
                  <c:v>Multi-Tenant
&amp; Teams</c:v>
                </c:pt>
                <c:pt idx="4">
                  <c:v>Gateways &amp;
Infra</c:v>
                </c:pt>
                <c:pt idx="5">
                  <c:v>Audit &amp;
Compliance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</c:v>
                </c:pt>
                <c:pt idx="1">
                  <c:v>16</c:v>
                </c:pt>
                <c:pt idx="2">
                  <c:v>12</c:v>
                </c:pt>
                <c:pt idx="3">
                  <c:v>22</c:v>
                </c:pt>
                <c:pt idx="4">
                  <c:v>25</c:v>
                </c:pt>
                <c:pt idx="5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Background Jobs</c:v>
                </c:pt>
              </c:strCache>
            </c:strRef>
          </c:tx>
          <c:spPr>
            <a:solidFill>
              <a:srgbClr val="388EFF"/>
            </a:solidFill>
          </c:spPr>
          <c:cat>
            <c:strRef>
              <c:f>Sheet1!$A$2:$A$7</c:f>
              <c:strCache>
                <c:ptCount val="6"/>
                <c:pt idx="0">
                  <c:v>Auth &amp;
Identity</c:v>
                </c:pt>
                <c:pt idx="1">
                  <c:v>Vault &amp;
Secrets</c:v>
                </c:pt>
                <c:pt idx="2">
                  <c:v>Connections
&amp; Sessions</c:v>
                </c:pt>
                <c:pt idx="3">
                  <c:v>Multi-Tenant
&amp; Teams</c:v>
                </c:pt>
                <c:pt idx="4">
                  <c:v>Gateways &amp;
Infra</c:v>
                </c:pt>
                <c:pt idx="5">
                  <c:v>Audit &amp;
Compliance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1</c:v>
                </c:pt>
                <c:pt idx="4">
                  <c:v>4</c:v>
                </c:pt>
                <c:pt idx="5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WebSocket Events</c:v>
                </c:pt>
              </c:strCache>
            </c:strRef>
          </c:tx>
          <c:spPr>
            <a:solidFill>
              <a:srgbClr val="A05CFF"/>
            </a:solidFill>
          </c:spPr>
          <c:cat>
            <c:strRef>
              <c:f>Sheet1!$A$2:$A$7</c:f>
              <c:strCache>
                <c:ptCount val="6"/>
                <c:pt idx="0">
                  <c:v>Auth &amp;
Identity</c:v>
                </c:pt>
                <c:pt idx="1">
                  <c:v>Vault &amp;
Secrets</c:v>
                </c:pt>
                <c:pt idx="2">
                  <c:v>Connections
&amp; Sessions</c:v>
                </c:pt>
                <c:pt idx="3">
                  <c:v>Multi-Tenant
&amp; Teams</c:v>
                </c:pt>
                <c:pt idx="4">
                  <c:v>Gateways &amp;
Infra</c:v>
                </c:pt>
                <c:pt idx="5">
                  <c:v>Audit &amp;
Compliance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4</c:v>
                </c:pt>
                <c:pt idx="2">
                  <c:v>6</c:v>
                </c:pt>
                <c:pt idx="3">
                  <c:v>0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 w="6350">
              <a:solidFill>
                <a:srgbClr val="2A344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A0A8B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Codebase Composition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Codebase</c:v>
                </c:pt>
              </c:strCache>
            </c:strRef>
          </c:tx>
          <c:dPt>
            <c:idx val="0"/>
            <c:spPr>
              <a:solidFill>
                <a:srgbClr val="00D4AA"/>
              </a:solidFill>
            </c:spPr>
          </c:dPt>
          <c:dPt>
            <c:idx val="1"/>
            <c:spPr>
              <a:solidFill>
                <a:srgbClr val="388EFF"/>
              </a:solidFill>
            </c:spPr>
          </c:dPt>
          <c:dPt>
            <c:idx val="2"/>
            <c:spPr>
              <a:solidFill>
                <a:srgbClr val="FF9F43"/>
              </a:solidFill>
            </c:spPr>
          </c:dPt>
          <c:dPt>
            <c:idx val="3"/>
            <c:spPr>
              <a:solidFill>
                <a:srgbClr val="A05CFF"/>
              </a:solidFill>
            </c:spPr>
          </c:dPt>
          <c:dPt>
            <c:idx val="4"/>
            <c:spPr>
              <a:solidFill>
                <a:srgbClr val="A0A8B8"/>
              </a:solidFill>
            </c:spPr>
          </c:dPt>
          <c:cat>
            <c:strRef>
              <c:f>Sheet1!$A$2:$A$6</c:f>
              <c:strCache>
                <c:ptCount val="5"/>
                <c:pt idx="0">
                  <c:v>Server (Express)</c:v>
                </c:pt>
                <c:pt idx="1">
                  <c:v>Client (React)</c:v>
                </c:pt>
                <c:pt idx="2">
                  <c:v>Gateways</c:v>
                </c:pt>
                <c:pt idx="3">
                  <c:v>Extensions</c:v>
                </c:pt>
                <c:pt idx="4">
                  <c:v>Infra (Docker/CI)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35</c:v>
                </c:pt>
                <c:pt idx="2">
                  <c:v>12</c:v>
                </c:pt>
                <c:pt idx="3">
                  <c:v>8</c:v>
                </c:pt>
                <c:pt idx="4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A0A8B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Projected Revenue ($K)</a:t>
            </a:r>
          </a:p>
        </c:rich>
      </c:tx>
      <c:layout/>
      <c:overlay val="0"/>
    </c:title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SaaS Revenue ($K)</c:v>
                </c:pt>
              </c:strCache>
            </c:strRef>
          </c:tx>
          <c:spPr>
            <a:solidFill>
              <a:srgbClr val="00D4AA"/>
            </a:solidFill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480</c:v>
                </c:pt>
                <c:pt idx="2">
                  <c:v>1200</c:v>
                </c:pt>
                <c:pt idx="3">
                  <c:v>2800</c:v>
                </c:pt>
                <c:pt idx="4">
                  <c:v>5500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Services ($K)</c:v>
                </c:pt>
              </c:strCache>
            </c:strRef>
          </c:tx>
          <c:spPr>
            <a:solidFill>
              <a:srgbClr val="388EFF"/>
            </a:solidFill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</c:v>
                </c:pt>
                <c:pt idx="1">
                  <c:v>150</c:v>
                </c:pt>
                <c:pt idx="2">
                  <c:v>350</c:v>
                </c:pt>
                <c:pt idx="3">
                  <c:v>600</c:v>
                </c:pt>
                <c:pt idx="4">
                  <c:v>900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OEM ($K)</c:v>
                </c:pt>
              </c:strCache>
            </c:strRef>
          </c:tx>
          <c:spPr>
            <a:solidFill>
              <a:srgbClr val="A05CFF"/>
            </a:solidFill>
          </c:spPr>
          <c:cat>
            <c:strRef>
              <c:f>Sheet1!$A$2:$A$6</c:f>
              <c:strCache>
                <c:ptCount val="5"/>
                <c:pt idx="0">
                  <c:v>Y1</c:v>
                </c:pt>
                <c:pt idx="1">
                  <c:v>Y2</c:v>
                </c:pt>
                <c:pt idx="2">
                  <c:v>Y3</c:v>
                </c:pt>
                <c:pt idx="3">
                  <c:v>Y4</c:v>
                </c:pt>
                <c:pt idx="4">
                  <c:v>Y5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50</c:v>
                </c:pt>
                <c:pt idx="2">
                  <c:v>200</c:v>
                </c:pt>
                <c:pt idx="3">
                  <c:v>500</c:v>
                </c:pt>
                <c:pt idx="4">
                  <c:v>1200</c:v>
                </c:pt>
              </c:numCache>
            </c:numRef>
          </c:val>
        </c:ser>
        <c:dLbls>
          <c:numFmt formatCode="$#,##0&quot;K&quot;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Gridlines>
          <c:spPr>
            <a:ln w="6350">
              <a:solidFill>
                <a:srgbClr val="2A344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A0A8B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Remote IT Workforce &amp; AI Server Growth</a:t>
            </a:r>
          </a:p>
        </c:rich>
      </c:tx>
      <c:layout/>
      <c:overlay val="0"/>
    </c:title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Remote IT Workers (M)</c:v>
                </c:pt>
              </c:strCache>
            </c:strRef>
          </c:tx>
          <c:spPr>
            <a:ln w="38100">
              <a:solidFill>
                <a:srgbClr val="00D4AA"/>
              </a:solidFill>
            </a:ln>
          </c:spPr>
          <c:marker>
            <c:symbol val="circle"/>
            <c:size val="8"/>
            <c:spPr>
              <a:solidFill>
                <a:srgbClr val="00D4AA"/>
              </a:solidFill>
            </c:spPr>
          </c:marke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  <c:pt idx="6">
                  <c:v>2026E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14</c:v>
                </c:pt>
                <c:pt idx="2">
                  <c:v>18</c:v>
                </c:pt>
                <c:pt idx="3">
                  <c:v>22</c:v>
                </c:pt>
                <c:pt idx="4">
                  <c:v>26</c:v>
                </c:pt>
                <c:pt idx="5">
                  <c:v>30</c:v>
                </c:pt>
                <c:pt idx="6">
                  <c:v>35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GPU Servers (K)</c:v>
                </c:pt>
              </c:strCache>
            </c:strRef>
          </c:tx>
          <c:spPr>
            <a:ln w="38100">
              <a:solidFill>
                <a:srgbClr val="FF9F43"/>
              </a:solidFill>
            </a:ln>
          </c:spPr>
          <c:marker>
            <c:symbol val="circle"/>
            <c:size val="8"/>
            <c:spPr>
              <a:solidFill>
                <a:srgbClr val="FF9F43"/>
              </a:solidFill>
            </c:spPr>
          </c:marke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  <c:pt idx="6">
                  <c:v>2026E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  <c:pt idx="4">
                  <c:v>800</c:v>
                </c:pt>
                <c:pt idx="5">
                  <c:v>1500</c:v>
                </c:pt>
                <c:pt idx="6">
                  <c:v>2500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Gridlines>
          <c:spPr>
            <a:ln w="6350">
              <a:solidFill>
                <a:srgbClr val="2A344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A0A8B8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A0A8B8"/>
              </a:solidFill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Compliance Framework Adoption (% of Enterprise)</a:t>
            </a:r>
          </a:p>
        </c:rich>
      </c:tx>
      <c:layout/>
      <c:overlay val="0"/>
    </c:title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Orgs Requiring (%)</c:v>
                </c:pt>
              </c:strCache>
            </c:strRef>
          </c:tx>
          <c:spPr>
            <a:solidFill>
              <a:srgbClr val="388EFF"/>
            </a:solidFill>
          </c:spPr>
          <c:cat>
            <c:strRef>
              <c:f>Sheet1!$A$2:$A$7</c:f>
              <c:strCache>
                <c:ptCount val="6"/>
                <c:pt idx="0">
                  <c:v>SOC 2</c:v>
                </c:pt>
                <c:pt idx="1">
                  <c:v>ISO 27001</c:v>
                </c:pt>
                <c:pt idx="2">
                  <c:v>GDPR</c:v>
                </c:pt>
                <c:pt idx="3">
                  <c:v>HIPAA</c:v>
                </c:pt>
                <c:pt idx="4">
                  <c:v>FedRAMP</c:v>
                </c:pt>
                <c:pt idx="5">
                  <c:v>PCI DSS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</c:v>
                </c:pt>
                <c:pt idx="1">
                  <c:v>55</c:v>
                </c:pt>
                <c:pt idx="2">
                  <c:v>72</c:v>
                </c:pt>
                <c:pt idx="3">
                  <c:v>42</c:v>
                </c:pt>
                <c:pt idx="4">
                  <c:v>28</c:v>
                </c:pt>
                <c:pt idx="5">
                  <c:v>45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Gridlines>
          <c:spPr>
            <a:ln w="6350">
              <a:solidFill>
                <a:srgbClr val="2A344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A0A8B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200" b="1">
                <a:solidFill>
                  <a:srgbClr val="FFFFFF"/>
                </a:solidFill>
                <a:latin typeface="Calibri"/>
              </a:defRPr>
            </a:pPr>
            <a:r>
              <a:t>Fund Allocation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dPt>
            <c:idx val="0"/>
            <c:spPr>
              <a:solidFill>
                <a:srgbClr val="00D4AA"/>
              </a:solidFill>
            </c:spPr>
          </c:dPt>
          <c:dPt>
            <c:idx val="1"/>
            <c:spPr>
              <a:solidFill>
                <a:srgbClr val="388EFF"/>
              </a:solidFill>
            </c:spPr>
          </c:dPt>
          <c:dPt>
            <c:idx val="2"/>
            <c:spPr>
              <a:solidFill>
                <a:srgbClr val="FF9F43"/>
              </a:solidFill>
            </c:spPr>
          </c:dPt>
          <c:dPt>
            <c:idx val="3"/>
            <c:spPr>
              <a:solidFill>
                <a:srgbClr val="A05CFF"/>
              </a:solidFill>
            </c:spPr>
          </c:dPt>
          <c:cat>
            <c:strRef>
              <c:f>Sheet1!$A$2:$A$5</c:f>
              <c:strCache>
                <c:ptCount val="4"/>
                <c:pt idx="0">
                  <c:v>Engineering</c:v>
                </c:pt>
                <c:pt idx="1">
                  <c:v>Security Certs</c:v>
                </c:pt>
                <c:pt idx="2">
                  <c:v>Go-to-Market</c:v>
                </c:pt>
                <c:pt idx="3">
                  <c:v>Infra &amp; Ops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15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A0A8B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D4AA"/>
                </a:solidFill>
                <a:latin typeface="Calibri"/>
              </a:defRPr>
            </a:pPr>
            <a:r>
              <a:t>ARSENALE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Secure Remote Access Management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383280"/>
            <a:ext cx="21031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8B8"/>
                </a:solidFill>
                <a:latin typeface="Calibri"/>
              </a:defRPr>
            </a:pPr>
            <a:r>
              <a:t>SSH  •  RDP  •  VNC  •  Zero Trust  •  Encrypted Vault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754880"/>
            <a:ext cx="2011680" cy="10972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00D4AA"/>
                </a:solidFill>
                <a:latin typeface="Calibri"/>
              </a:defRPr>
            </a:pPr>
            <a:r>
              <a:t>32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Prisma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754880"/>
            <a:ext cx="2011680" cy="10972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00D4AA"/>
                </a:solidFill>
                <a:latin typeface="Calibri"/>
              </a:defRPr>
            </a:pPr>
            <a:r>
              <a:t>31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REST API Routes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4754880"/>
            <a:ext cx="2011680" cy="10972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00D4AA"/>
                </a:solidFill>
                <a:latin typeface="Calibri"/>
              </a:defRPr>
            </a:pPr>
            <a:r>
              <a:t>100+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Audit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4754880"/>
            <a:ext cx="2011680" cy="10972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00D4AA"/>
                </a:solidFill>
                <a:latin typeface="Calibri"/>
              </a:defRPr>
            </a:pPr>
            <a:r>
              <a:t>6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UI Themes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8B8"/>
                </a:solidFill>
                <a:latin typeface="Calibri"/>
              </a:defRPr>
            </a:pPr>
            <a:r>
              <a:t>Investor Pitch  •  March 2026  •  v1.3.2  •  BSL Licensed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1200"/>
              </a:spcAft>
            </a:pPr>
            <a:r>
              <a:rPr sz="1600" b="0">
                <a:solidFill>
                  <a:srgbClr val="A0A8B8"/>
                </a:solidFill>
                <a:latin typeface="Calibri"/>
              </a:rPr>
              <a:t>⚠️  Enterprises manage 10,000+ remote endpoints — SSH, RDP, VNC spread across cloud, on-prem, and edge</a:t>
            </a:r>
          </a:p>
          <a:p>
            <a:pPr algn="l">
              <a:spcBef>
                <a:spcPts val="200"/>
              </a:spcBef>
              <a:spcAft>
                <a:spcPts val="1200"/>
              </a:spcAft>
            </a:pPr>
            <a:r>
              <a:rPr sz="1600" b="0">
                <a:solidFill>
                  <a:srgbClr val="A0A8B8"/>
                </a:solidFill>
                <a:latin typeface="Calibri"/>
              </a:rPr>
              <a:t>🔒  Credentials scattered in spreadsheets and tools not built for infrastructure access</a:t>
            </a:r>
          </a:p>
          <a:p>
            <a:pPr algn="l">
              <a:spcBef>
                <a:spcPts val="200"/>
              </a:spcBef>
              <a:spcAft>
                <a:spcPts val="1200"/>
              </a:spcAft>
            </a:pPr>
            <a:r>
              <a:rPr sz="1600" b="0">
                <a:solidFill>
                  <a:srgbClr val="A0A8B8"/>
                </a:solidFill>
                <a:latin typeface="Calibri"/>
              </a:rPr>
              <a:t>🛡️  Compliance mandates (SOC 2, ISO 27001, GDPR) require session recording, audit trails, MFA</a:t>
            </a:r>
          </a:p>
          <a:p>
            <a:pPr algn="l">
              <a:spcBef>
                <a:spcPts val="200"/>
              </a:spcBef>
              <a:spcAft>
                <a:spcPts val="1200"/>
              </a:spcAft>
            </a:pPr>
            <a:r>
              <a:rPr sz="1600" b="0">
                <a:solidFill>
                  <a:srgbClr val="A0A8B8"/>
                </a:solidFill>
                <a:latin typeface="Calibri"/>
              </a:rPr>
              <a:t>🌐  VPNs are slow, complex, and create flat network risk — zero-trust is the mandate</a:t>
            </a:r>
          </a:p>
          <a:p>
            <a:pPr algn="l">
              <a:spcBef>
                <a:spcPts val="200"/>
              </a:spcBef>
              <a:spcAft>
                <a:spcPts val="1200"/>
              </a:spcAft>
            </a:pPr>
            <a:r>
              <a:rPr sz="1600" b="0">
                <a:solidFill>
                  <a:srgbClr val="A0A8B8"/>
                </a:solidFill>
                <a:latin typeface="Calibri"/>
              </a:rPr>
              <a:t>💸  Existing PAM solutions (CyberArk, BeyondTrust) cost $100K+/year, take months to deploy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0" y="1188720"/>
          <a:ext cx="39319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45720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A8B8"/>
                </a:solidFill>
                <a:latin typeface="Calibri"/>
              </a:defRPr>
            </a:pPr>
            <a:r>
              <a:t>Source: IBM Cost of a Data Breach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2743200" cy="11887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00D4AA"/>
                </a:solidFill>
                <a:latin typeface="Calibri"/>
              </a:defRPr>
            </a:pPr>
            <a:r>
              <a:t>$4.88M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Avg. cost per</a:t>
            </a:r>
            <a:br/>
            <a:r>
              <a:t>data breach (2025)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5029200"/>
            <a:ext cx="2743200" cy="11887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00D4AA"/>
                </a:solidFill>
                <a:latin typeface="Calibri"/>
              </a:defRPr>
            </a:pPr>
            <a:r>
              <a:t>292 days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Avg. time to identify</a:t>
            </a:r>
            <a:br/>
            <a:r>
              <a:t>&amp; contain a breach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AI DATACENTER BOOM &amp; REMOTE ACCESS DEMAND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 AI infrastructure buildout is creating unprecedented demand for secure remote access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828800"/>
          <a:ext cx="53035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1828800"/>
            <a:ext cx="5303520" cy="10972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💡 Why AI Datacenters Need Arsenale</a:t>
            </a:r>
          </a:p>
          <a:p>
            <a:pPr>
              <a:defRPr sz="1100">
                <a:solidFill>
                  <a:srgbClr val="A0A8B8"/>
                </a:solidFill>
                <a:latin typeface="Calibri"/>
              </a:defRPr>
            </a:pPr>
            <a:r>
              <a:t>Thousands of GPU servers require SSH/RDP management.</a:t>
            </a:r>
            <a:br/>
            <a:r>
              <a:t>Remote ops teams need secure, audited access 24/7.</a:t>
            </a:r>
            <a:br/>
            <a:r>
              <a:t>Compliance requires session recording &amp; MFA.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108960"/>
            <a:ext cx="5303520" cy="10058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👥 Remote Workforce Explosion</a:t>
            </a:r>
          </a:p>
          <a:p>
            <a:pPr>
              <a:defRPr sz="1100">
                <a:solidFill>
                  <a:srgbClr val="A0A8B8"/>
                </a:solidFill>
                <a:latin typeface="Calibri"/>
              </a:defRPr>
            </a:pPr>
            <a:r>
              <a:t>AI ops engineers work globally — zero-trust is mandatory.</a:t>
            </a:r>
            <a:br/>
            <a:r>
              <a:t>72% of datacenter staff work remotely at least part-time.</a:t>
            </a:r>
            <a:br/>
            <a:r>
              <a:t>VPN-based access is a security liability.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97680"/>
            <a:ext cx="5303520" cy="10058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🚀 Hyperscaler Spillover</a:t>
            </a:r>
          </a:p>
          <a:p>
            <a:pPr>
              <a:defRPr sz="1100">
                <a:solidFill>
                  <a:srgbClr val="A0A8B8"/>
                </a:solidFill>
                <a:latin typeface="Calibri"/>
              </a:defRPr>
            </a:pPr>
            <a:r>
              <a:t>AWS, Azure, GCP spending $200B+ on AI infra in 2025.</a:t>
            </a:r>
            <a:br/>
            <a:r>
              <a:t>Enterprise co-lo &amp; edge AI sites multiplying.</a:t>
            </a:r>
            <a:br/>
            <a:r>
              <a:t>Every new site = new remote access requirement.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20"/>
            <a:ext cx="2286000" cy="10972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00D4AA"/>
                </a:solidFill>
                <a:latin typeface="Calibri"/>
              </a:defRPr>
            </a:pPr>
            <a:r>
              <a:t>$340B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AI DC CapEx</a:t>
            </a:r>
            <a:br/>
            <a:r>
              <a:t>by 2028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5303520"/>
            <a:ext cx="2286000" cy="10972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00D4AA"/>
                </a:solidFill>
                <a:latin typeface="Calibri"/>
              </a:defRPr>
            </a:pPr>
            <a:r>
              <a:t>3.5M+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New DC servers</a:t>
            </a:r>
            <a:br/>
            <a:r>
              <a:t>deployed in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5303520"/>
            <a:ext cx="2286000" cy="10972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00D4AA"/>
                </a:solidFill>
                <a:latin typeface="Calibri"/>
              </a:defRPr>
            </a:pPr>
            <a:r>
              <a:t>72%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DC ops staff</a:t>
            </a:r>
            <a:br/>
            <a:r>
              <a:t>work remotely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5303520"/>
            <a:ext cx="2286000" cy="10972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00D4AA"/>
                </a:solidFill>
                <a:latin typeface="Calibri"/>
              </a:defRPr>
            </a:pPr>
            <a:r>
              <a:t>10x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SSH session growth</a:t>
            </a:r>
            <a:br/>
            <a:r>
              <a:t>vs 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8B8"/>
                </a:solidFill>
                <a:latin typeface="Calibri"/>
              </a:defRPr>
            </a:pPr>
            <a:r>
              <a:t>Sources: Synergy Research, Dell'Oro Group, Uptime Institute, Goldman Sachs AI Infrastructure Report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566928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0" y="1188720"/>
            <a:ext cx="5029200" cy="12801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📊 Privileged Access Management</a:t>
            </a:r>
          </a:p>
          <a:p>
            <a:pPr>
              <a:defRPr sz="1100">
                <a:solidFill>
                  <a:srgbClr val="A0A8B8"/>
                </a:solidFill>
                <a:latin typeface="Calibri"/>
              </a:defRPr>
            </a:pPr>
            <a:r>
              <a:t>Market: $3.8B (2025) → $12.9B (2030)</a:t>
            </a:r>
            <a:br/>
            <a:r>
              <a:t>CAGR: 27.6%</a:t>
            </a:r>
            <a:br/>
            <a:r>
              <a:t>Drivers: Remote work, compliance, zero-trust mandates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651760"/>
            <a:ext cx="5029200" cy="128016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88EFF"/>
                </a:solidFill>
                <a:latin typeface="Calibri"/>
              </a:defRPr>
            </a:pPr>
            <a:r>
              <a:t>🌐 Zero Trust Network Access</a:t>
            </a:r>
          </a:p>
          <a:p>
            <a:pPr>
              <a:defRPr sz="1100">
                <a:solidFill>
                  <a:srgbClr val="A0A8B8"/>
                </a:solidFill>
                <a:latin typeface="Calibri"/>
              </a:defRPr>
            </a:pPr>
            <a:r>
              <a:t>Market: $4.2B (2025) → $14B (2030)</a:t>
            </a:r>
            <a:br/>
            <a:r>
              <a:t>CAGR: 22.1%</a:t>
            </a:r>
            <a:br/>
            <a:r>
              <a:t>Convergence with PAM accelerating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Competitive Positioning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93776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5029200"/>
          <a:ext cx="5669280" cy="16459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83680" y="4206240"/>
            <a:ext cx="5029200" cy="24688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🎯 Arsenale Advantage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• Full PAM + ZTNA in one self-hosted platform</a:t>
            </a:r>
            <a:br/>
            <a:r>
              <a:t>• Deploy in &lt; 1 hour (Docker compose up)</a:t>
            </a:r>
            <a:br/>
            <a:r>
              <a:t>• 10-30x lower cost than enterprise PAM</a:t>
            </a:r>
            <a:br/>
            <a:r>
              <a:t>• Open-source core builds community trust</a:t>
            </a:r>
            <a:br/>
            <a:r>
              <a:t>• No vendor lock-in — runs anywhere</a:t>
            </a:r>
            <a:br/>
            <a:r>
              <a:t>• AI datacenter-ready: SSH, RBAC, audit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Arsenale: One platform for all remote infrastructure access — secure, audited, zero-trust.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3474720" cy="1828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🌐 Multi-Protocol Access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SSH, RDP, VNC from the browser.</a:t>
            </a:r>
            <a:br/>
            <a:r>
              <a:t>No client software. Tab-based workspace.</a:t>
            </a:r>
            <a:br/>
            <a:r>
              <a:t>XTerm.js + Guacamole rendering.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920240"/>
            <a:ext cx="3474720" cy="1828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🔒 Encrypted Vault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AES-256-GCM encryption at rest.</a:t>
            </a:r>
            <a:br/>
            <a:r>
              <a:t>Argon2id master key derivation.</a:t>
            </a:r>
            <a:br/>
            <a:r>
              <a:t>Versioned secrets with sharing.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920240"/>
            <a:ext cx="3474720" cy="1828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🛡️ Zero-Trust Tunnel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Outbound-only agents.</a:t>
            </a:r>
            <a:br/>
            <a:r>
              <a:t>No open inbound ports needed.</a:t>
            </a:r>
            <a:br/>
            <a:r>
              <a:t>Binary multiplexed protocol.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3474720" cy="1828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👥 Multi-Tenant RBAC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7 tenant roles + 3 team roles.</a:t>
            </a:r>
            <a:br/>
            <a:r>
              <a:t>ABAC policies: time windows,</a:t>
            </a:r>
            <a:br/>
            <a:r>
              <a:t>trusted device, MFA step-up.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931920"/>
            <a:ext cx="3474720" cy="1828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📹 Session Recording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SSH (asciicast) + RDP/VNC</a:t>
            </a:r>
            <a:br/>
            <a:r>
              <a:t>(Guacamole format).</a:t>
            </a:r>
            <a:br/>
            <a:r>
              <a:t>Video export + audit trail.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931920"/>
            <a:ext cx="3474720" cy="1828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🔍 Audit &amp; Compliance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100+ tracked actions.</a:t>
            </a:r>
            <a:br/>
            <a:r>
              <a:t>GeoIP + impossible travel.</a:t>
            </a:r>
            <a:br/>
            <a:r>
              <a:t>DLP enforcement per tenant.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Calibri"/>
              </a:defRPr>
            </a:pPr>
            <a:r>
              <a:t>SSO (Google/MS/GitHub/OIDC/SAML/LDAP)  •  MFA (TOTP/SMS/WebAuthn)  •  Gateway Orchestration (Docker/Podman/K8s)  •  Chrome Extension  •  PWA  •  HashiCorp Vault  •  NetBox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200400" cy="1554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CLIENT</a:t>
            </a:r>
          </a:p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  <a:r>
              <a:t>React 19 + Vite</a:t>
            </a:r>
            <a:br/>
            <a:r>
              <a:t>MUI v7 + Zustand (15 stores)</a:t>
            </a:r>
            <a:br/>
            <a:r>
              <a:t>XTerm.js + Guacamole</a:t>
            </a:r>
            <a:br/>
            <a:r>
              <a:t>PWA + Service Worker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280160"/>
            <a:ext cx="4114800" cy="1554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38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300" b="1">
                <a:solidFill>
                  <a:srgbClr val="388EFF"/>
                </a:solidFill>
                <a:latin typeface="Calibri"/>
              </a:defRPr>
            </a:pPr>
            <a:r>
              <a:t>SERVER</a:t>
            </a:r>
          </a:p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  <a:r>
              <a:t>Express + TypeScript</a:t>
            </a:r>
            <a:br/>
            <a:r>
              <a:t>Socket.IO (SSH, Notifications)</a:t>
            </a:r>
            <a:br/>
            <a:r>
              <a:t>Guacamole WS (RDP/VNC)</a:t>
            </a:r>
            <a:br/>
            <a:r>
              <a:t>Tunnel Broker (Zero-Trust)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280160"/>
            <a:ext cx="3200400" cy="155448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300" b="1">
                <a:solidFill>
                  <a:srgbClr val="A05CFF"/>
                </a:solidFill>
                <a:latin typeface="Calibri"/>
              </a:defRPr>
            </a:pPr>
            <a:r>
              <a:t>DATA</a:t>
            </a:r>
          </a:p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  <a:r>
              <a:t>PostgreSQL 16</a:t>
            </a:r>
            <a:br/>
            <a:r>
              <a:t>Prisma ORM (32 models)</a:t>
            </a:r>
            <a:br/>
            <a:r>
              <a:t>AES-256-GCM Encryption</a:t>
            </a:r>
            <a:br/>
            <a:r>
              <a:t>Argon2id Key Derivation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3200400" cy="12801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300" b="1">
                <a:solidFill>
                  <a:srgbClr val="FF9F43"/>
                </a:solidFill>
                <a:latin typeface="Calibri"/>
              </a:defRPr>
            </a:pPr>
            <a:r>
              <a:t>GATEWAYS</a:t>
            </a:r>
          </a:p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  <a:r>
              <a:t>guacd (RDP/VNC)</a:t>
            </a:r>
            <a:br/>
            <a:r>
              <a:t>SSH Bastion</a:t>
            </a:r>
            <a:br/>
            <a:r>
              <a:t>guacenc (Recordings)</a:t>
            </a:r>
            <a:br/>
            <a:r>
              <a:t>Tunnel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3108960"/>
            <a:ext cx="4114800" cy="12801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300" b="1">
                <a:solidFill>
                  <a:srgbClr val="FF9F43"/>
                </a:solidFill>
                <a:latin typeface="Calibri"/>
              </a:defRPr>
            </a:pPr>
            <a:r>
              <a:t>INTEGRATIONS</a:t>
            </a:r>
          </a:p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  <a:r>
              <a:t>OAuth/SAML/LDAP SSO</a:t>
            </a:r>
            <a:br/>
            <a:r>
              <a:t>HashiCorp Vault</a:t>
            </a:r>
            <a:br/>
            <a:r>
              <a:t>NetBox Sync</a:t>
            </a:r>
            <a:br/>
            <a:r>
              <a:t>SMTP/SES/SendGrid/Twilio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108960"/>
            <a:ext cx="3200400" cy="128016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300" b="1">
                <a:solidFill>
                  <a:srgbClr val="FF9F43"/>
                </a:solidFill>
                <a:latin typeface="Calibri"/>
              </a:defRPr>
            </a:pPr>
            <a:r>
              <a:t>EXTENSION</a:t>
            </a:r>
          </a:p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  <a:r>
              <a:t>Chrome Manifest V3</a:t>
            </a:r>
            <a:br/>
            <a:r>
              <a:t>Credential Autofill</a:t>
            </a:r>
            <a:br/>
            <a:r>
              <a:t>Multi-Account</a:t>
            </a:r>
            <a:br/>
            <a:r>
              <a:t>AES-GCM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8B8"/>
                </a:solidFill>
                <a:latin typeface="Calibri"/>
              </a:defRPr>
            </a:pPr>
            <a:r>
              <a:t>Tech: Node.js 22  •  TypeScript  •  React 19  •  PostgreSQL 16  •  Docker/Podman/K8s  •  Nginx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57200" y="5120640"/>
          <a:ext cx="11247120" cy="1554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SECURITY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🔒 Encryption at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Calibri"/>
              </a:defRPr>
            </a:pPr>
            <a:r>
              <a:t>AES-256-GCM for all credentials, secrets, TOTP seeds. Per-user master key derived via Argon2id. Zero-knowledge — server never stores plaintext.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9339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🔐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99339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Calibri"/>
              </a:defRPr>
            </a:pPr>
            <a:r>
              <a:t>JWT access tokens (15 min) + refresh tokens (DB, family tracking). Token binding (IP + User-Agent hash). Automatic refresh on 401.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0662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🛡️ Multi-Factor 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7066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Calibri"/>
              </a:defRPr>
            </a:pPr>
            <a:r>
              <a:t>TOTP (any authenticator), SMS (Twilio/SNS/Vonage), WebAuthn/FIDO2 hardware keys and passkeys. MFA step-up for sensitive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1985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👥 Access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41985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Calibri"/>
              </a:defRPr>
            </a:pPr>
            <a:r>
              <a:t>7 tenant roles (OWNER→GUEST) + 3 team roles. ABAC policies: time windows, trusted device reqs, per-connection DLP.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330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📊 Audit &amp;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1330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Calibri"/>
              </a:defRPr>
            </a:pPr>
            <a:r>
              <a:t>100+ tracked action types. GeoIP enrichment. Impossible travel detection (&gt;900 km/h). IP allowlist (flag/block mode).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🌐 Zero-Trust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8B8"/>
                </a:solidFill>
                <a:latin typeface="Calibri"/>
              </a:defRPr>
            </a:pPr>
            <a:r>
              <a:t>Outbound-only tunnel agents. No inbound ports. Binary multiplexed protocol with stream-level isolation. Heartbeat health.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8046720" y="1188720"/>
          <a:ext cx="38404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3152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Calibri"/>
              </a:defRPr>
            </a:pPr>
            <a:r>
              <a:t>Target Compliance: SOC 2 Type II  •  ISO 27001  •  GDPR  •  HIPAA  •  FedRAMP (roadmap)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PRODUCT DEPTH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566928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0" y="1188720"/>
          <a:ext cx="50292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389120"/>
            <a:ext cx="2194560" cy="10058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00D4AA"/>
                </a:solidFill>
                <a:latin typeface="Calibri"/>
              </a:defRPr>
            </a:pPr>
            <a:r>
              <a:t>31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REST API</a:t>
            </a:r>
            <a:br/>
            <a:r>
              <a:t>Route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4389120"/>
            <a:ext cx="2194560" cy="10058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00D4AA"/>
                </a:solidFill>
                <a:latin typeface="Calibri"/>
              </a:defRPr>
            </a:pPr>
            <a:r>
              <a:t>15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Zustand</a:t>
            </a:r>
            <a:br/>
            <a:r>
              <a:t>State Stores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4389120"/>
            <a:ext cx="2194560" cy="10058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00D4AA"/>
                </a:solidFill>
                <a:latin typeface="Calibri"/>
              </a:defRPr>
            </a:pPr>
            <a:r>
              <a:t>32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Database</a:t>
            </a:r>
            <a:br/>
            <a:r>
              <a:t>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389120"/>
            <a:ext cx="2194560" cy="10058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00D4AA"/>
                </a:solidFill>
                <a:latin typeface="Calibri"/>
              </a:defRPr>
            </a:pPr>
            <a:r>
              <a:t>12+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Background</a:t>
            </a:r>
            <a:br/>
            <a:r>
              <a:t>Jobs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577840"/>
            <a:ext cx="2194560" cy="10058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FF9F43"/>
                </a:solidFill>
                <a:latin typeface="Calibri"/>
              </a:defRPr>
            </a:pPr>
            <a:r>
              <a:t>7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Tenant</a:t>
            </a:r>
            <a:br/>
            <a:r>
              <a:t>Role Levels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5577840"/>
            <a:ext cx="2194560" cy="10058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FF9F43"/>
                </a:solidFill>
                <a:latin typeface="Calibri"/>
              </a:defRPr>
            </a:pPr>
            <a:r>
              <a:t>6×2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Themes</a:t>
            </a:r>
            <a:br/>
            <a:r>
              <a:t>(Dark+Light)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577840"/>
            <a:ext cx="2194560" cy="10058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FF9F43"/>
                </a:solidFill>
                <a:latin typeface="Calibri"/>
              </a:defRPr>
            </a:pPr>
            <a:r>
              <a:t>5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Auth</a:t>
            </a:r>
            <a:br/>
            <a:r>
              <a:t>Providers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5577840"/>
            <a:ext cx="2194560" cy="100584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FF9F43"/>
                </a:solidFill>
                <a:latin typeface="Calibri"/>
              </a:defRPr>
            </a:pPr>
            <a:r>
              <a:t>3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MFA</a:t>
            </a:r>
            <a:br/>
            <a:r>
              <a:t>Methods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25603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📦 Community</a:t>
            </a:r>
            <a:br/>
            <a:r>
              <a:t>(BSL / Free)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Self-hosted, single tenant</a:t>
            </a:r>
            <a:br/>
            <a:r>
              <a:t>SSH + RDP + VNC</a:t>
            </a:r>
            <a:br/>
            <a:r>
              <a:t>Encrypted vault</a:t>
            </a:r>
            <a:br/>
            <a:r>
              <a:t>Basic audit logs</a:t>
            </a:r>
            <a:br/>
            <a:r>
              <a:t>Community support</a:t>
            </a:r>
            <a:br/>
            <a:br/>
            <a:r>
              <a:t>Convert date: 4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474720" cy="25603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600" b="1">
                <a:solidFill>
                  <a:srgbClr val="388EFF"/>
                </a:solidFill>
                <a:latin typeface="Calibri"/>
              </a:defRPr>
            </a:pPr>
            <a:r>
              <a:t>🏢 Business</a:t>
            </a:r>
            <a:br/>
            <a:r>
              <a:t>($15/user/mo)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Multi-tenant RBAC</a:t>
            </a:r>
            <a:br/>
            <a:r>
              <a:t>Session recording</a:t>
            </a:r>
            <a:br/>
            <a:r>
              <a:t>SSO (SAML, OIDC, LDAP)</a:t>
            </a:r>
            <a:br/>
            <a:r>
              <a:t>Gateway orchestration</a:t>
            </a:r>
            <a:br/>
            <a:r>
              <a:t>Priority support</a:t>
            </a:r>
            <a:br/>
            <a:r>
              <a:t>SLA: 99.9%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188720"/>
            <a:ext cx="3474720" cy="25603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600" b="1">
                <a:solidFill>
                  <a:srgbClr val="A05CFF"/>
                </a:solidFill>
                <a:latin typeface="Calibri"/>
              </a:defRPr>
            </a:pPr>
            <a:r>
              <a:t>🏠 Enterprise</a:t>
            </a:r>
            <a:br/>
            <a:r>
              <a:t>(Custom pricing)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Zero-trust tunnels</a:t>
            </a:r>
            <a:br/>
            <a:r>
              <a:t>HashiCorp Vault integration</a:t>
            </a:r>
            <a:br/>
            <a:r>
              <a:t>ABAC policies + DLP</a:t>
            </a:r>
            <a:br/>
            <a:r>
              <a:t>Managed cloud option</a:t>
            </a:r>
            <a:br/>
            <a:r>
              <a:t>Dedicated support</a:t>
            </a:r>
            <a:br/>
            <a:r>
              <a:t>Custom SLA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4023360"/>
          <a:ext cx="566928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0" y="4023360"/>
            <a:ext cx="5029200" cy="25603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💰 Revenue Streams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• SaaS subscriptions (per-user, per-tenant)</a:t>
            </a:r>
            <a:br/>
            <a:r>
              <a:t>• Professional services (deploy, migration, training)</a:t>
            </a:r>
            <a:br/>
            <a:r>
              <a:t>• Managed hosting (fully managed Arsenale cloud)</a:t>
            </a:r>
            <a:br/>
            <a:r>
              <a:t>• OEM licensing (white-label for MSPs/ISVs)</a:t>
            </a:r>
            <a:br/>
            <a:br/>
            <a:r>
              <a:t>Target: $5.5M ARR by Year 5</a:t>
            </a:r>
            <a:br/>
            <a:r>
              <a:t>Gross margin: 80%+ (software)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TRACTION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Delivered (v1.3.2)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A0A8B8"/>
                </a:solidFill>
                <a:latin typeface="Calibri"/>
              </a:rPr>
              <a:t>✅  Multi-protocol: SSH, RDP, VNC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A0A8B8"/>
                </a:solidFill>
                <a:latin typeface="Calibri"/>
              </a:rPr>
              <a:t>✅  AES-256-GCM vault + Argon2id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A0A8B8"/>
                </a:solidFill>
                <a:latin typeface="Calibri"/>
              </a:rPr>
              <a:t>✅  Multi-tenant RBAC (7 roles) + Teams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A0A8B8"/>
                </a:solidFill>
                <a:latin typeface="Calibri"/>
              </a:rPr>
              <a:t>✅  MFA: TOTP, SMS, WebAuthn/FIDO2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A0A8B8"/>
                </a:solidFill>
                <a:latin typeface="Calibri"/>
              </a:rPr>
              <a:t>✅  SSO: Google, MS, GitHub, OIDC, SAML, LDAP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A0A8B8"/>
                </a:solidFill>
                <a:latin typeface="Calibri"/>
              </a:rPr>
              <a:t>✅  Session recording + video export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A0A8B8"/>
                </a:solidFill>
                <a:latin typeface="Calibri"/>
              </a:rPr>
              <a:t>✅  Gateway orchestration (Docker/Podman/K8s)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A0A8B8"/>
                </a:solidFill>
                <a:latin typeface="Calibri"/>
              </a:rPr>
              <a:t>✅  Zero-trust tunnel system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A0A8B8"/>
                </a:solidFill>
                <a:latin typeface="Calibri"/>
              </a:rPr>
              <a:t>✅  Chrome extension + PWA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200" b="0">
                <a:solidFill>
                  <a:srgbClr val="A0A8B8"/>
                </a:solidFill>
                <a:latin typeface="Calibri"/>
              </a:rPr>
              <a:t>✅  HashiCorp Vault + NetBox integrations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8" name="Oval 7"/>
          <p:cNvSpPr/>
          <p:nvPr/>
        </p:nvSpPr>
        <p:spPr>
          <a:xfrm>
            <a:off x="6217920" y="1783080"/>
            <a:ext cx="164592" cy="164592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190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7190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alibri"/>
              </a:defRPr>
            </a:pPr>
            <a:r>
              <a:t>Managed cloud launch (SaaS)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1965960"/>
            <a:ext cx="36576" cy="365760"/>
          </a:xfrm>
          <a:prstGeom prst="rect">
            <a:avLst/>
          </a:prstGeom>
          <a:solidFill>
            <a:srgbClr val="2A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17920" y="2313432"/>
            <a:ext cx="164592" cy="164592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2494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24942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alibri"/>
              </a:defRPr>
            </a:pPr>
            <a:r>
              <a:t>SOC 2 Type II certification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81928" y="2496312"/>
            <a:ext cx="36576" cy="365760"/>
          </a:xfrm>
          <a:prstGeom prst="rect">
            <a:avLst/>
          </a:prstGeom>
          <a:solidFill>
            <a:srgbClr val="2A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0" y="2843784"/>
            <a:ext cx="164592" cy="164592"/>
          </a:xfrm>
          <a:prstGeom prst="ellipse">
            <a:avLst/>
          </a:prstGeom>
          <a:solidFill>
            <a:srgbClr val="38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7797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EFF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77977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alibri"/>
              </a:defRPr>
            </a:pPr>
            <a:r>
              <a:t>Firefox ext + mobile PWA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1928" y="3026664"/>
            <a:ext cx="36576" cy="365760"/>
          </a:xfrm>
          <a:prstGeom prst="rect">
            <a:avLst/>
          </a:prstGeom>
          <a:solidFill>
            <a:srgbClr val="2A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17920" y="3374136"/>
            <a:ext cx="164592" cy="164592"/>
          </a:xfrm>
          <a:prstGeom prst="ellipse">
            <a:avLst/>
          </a:prstGeom>
          <a:solidFill>
            <a:srgbClr val="38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3101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EFF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3101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alibri"/>
              </a:defRPr>
            </a:pPr>
            <a:r>
              <a:t>AI-powered anomaly detection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81928" y="3557016"/>
            <a:ext cx="36576" cy="365760"/>
          </a:xfrm>
          <a:prstGeom prst="rect">
            <a:avLst/>
          </a:prstGeom>
          <a:solidFill>
            <a:srgbClr val="2A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17920" y="3904487"/>
            <a:ext cx="164592" cy="164592"/>
          </a:xfrm>
          <a:prstGeom prst="ellipse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8404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5CFF"/>
                </a:solidFill>
                <a:latin typeface="Calibri"/>
              </a:defRPr>
            </a:pPr>
            <a:r>
              <a:t>Q1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840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alibri"/>
              </a:defRPr>
            </a:pPr>
            <a:r>
              <a:t>Kubernetes operator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1928" y="4087368"/>
            <a:ext cx="36576" cy="365760"/>
          </a:xfrm>
          <a:prstGeom prst="rect">
            <a:avLst/>
          </a:prstGeom>
          <a:solidFill>
            <a:srgbClr val="2A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17920" y="4434840"/>
            <a:ext cx="164592" cy="164592"/>
          </a:xfrm>
          <a:prstGeom prst="ellipse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3708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5CFF"/>
                </a:solidFill>
                <a:latin typeface="Calibri"/>
              </a:defRPr>
            </a:pPr>
            <a:r>
              <a:t>Q1 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3708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alibri"/>
              </a:defRPr>
            </a:pPr>
            <a:r>
              <a:t>Database session recording (SQL)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81928" y="4617720"/>
            <a:ext cx="36576" cy="365760"/>
          </a:xfrm>
          <a:prstGeom prst="rect">
            <a:avLst/>
          </a:prstGeom>
          <a:solidFill>
            <a:srgbClr val="2A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17920" y="4965192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90118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Calibri"/>
              </a:defRPr>
            </a:pPr>
            <a:r>
              <a:t>Q2 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49011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alibri"/>
              </a:defRPr>
            </a:pPr>
            <a:r>
              <a:t>FedRAMP readiness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1928" y="5148072"/>
            <a:ext cx="36576" cy="365760"/>
          </a:xfrm>
          <a:prstGeom prst="rect">
            <a:avLst/>
          </a:prstGeom>
          <a:solidFill>
            <a:srgbClr val="2A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217920" y="5495544"/>
            <a:ext cx="164592" cy="1645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4315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F43"/>
                </a:solidFill>
                <a:latin typeface="Calibri"/>
              </a:defRPr>
            </a:pPr>
            <a:r>
              <a:t>Q2 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543153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alibri"/>
              </a:defRPr>
            </a:pPr>
            <a:r>
              <a:t>MSP white-label program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303520"/>
            <a:ext cx="2286000" cy="10972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00D4AA"/>
                </a:solidFill>
                <a:latin typeface="Calibri"/>
              </a:defRPr>
            </a:pPr>
            <a:r>
              <a:t>500+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Target users</a:t>
            </a:r>
            <a:br/>
            <a:r>
              <a:t>Year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1840" y="5303520"/>
            <a:ext cx="2286000" cy="10972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388EFF"/>
                </a:solidFill>
                <a:latin typeface="Calibri"/>
              </a:defRPr>
            </a:pPr>
            <a:r>
              <a:t>50+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Target tenants</a:t>
            </a:r>
            <a:br/>
            <a:r>
              <a:t>Year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USE CASE: AI DATACENTER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Managing thousands of GPU servers across global AI datacenters — securely, from anywhere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5486400" cy="13716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🏭 Scenario: Global AI Infrastructure Provider</a:t>
            </a:r>
          </a:p>
          <a:p>
            <a:pPr>
              <a:defRPr sz="1100">
                <a:solidFill>
                  <a:srgbClr val="A0A8B8"/>
                </a:solidFill>
                <a:latin typeface="Calibri"/>
              </a:defRPr>
            </a:pPr>
            <a:r>
              <a:t>Operates 12 datacenters across 3 continents with 8,000+ GPU servers.</a:t>
            </a:r>
            <a:br/>
            <a:r>
              <a:t>150 remote engineers need SSH access to GPU nodes, RDP to management consoles,</a:t>
            </a:r>
            <a:br/>
            <a:r>
              <a:t>and VNC to IPMI/BMC interfaces. Compliance: SOC 2, ISO 27001.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303520" cy="13716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💡 Why Arsenale Wins</a:t>
            </a:r>
          </a:p>
          <a:p>
            <a:pPr>
              <a:defRPr sz="1100">
                <a:solidFill>
                  <a:srgbClr val="A0A8B8"/>
                </a:solidFill>
                <a:latin typeface="Calibri"/>
              </a:defRPr>
            </a:pPr>
            <a:r>
              <a:t>• One platform for SSH + RDP + VNC (no tool sprawl)</a:t>
            </a:r>
            <a:br/>
            <a:r>
              <a:t>• Zero-trust tunnels = no VPN, no open ports to GPU clusters</a:t>
            </a:r>
            <a:br/>
            <a:r>
              <a:t>• Session recording for compliance audits</a:t>
            </a:r>
            <a:br/>
            <a:r>
              <a:t>• RBAC: ops team vs. ML engineers vs. auditors</a:t>
            </a:r>
            <a:br/>
            <a:r>
              <a:t>• Deploy in each DC with Docker compose — 1 hour per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Arsenale Workflow in AI Datacenter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1920240" cy="118872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400"/>
              </a:spcAft>
              <a:defRPr sz="1100" b="1">
                <a:solidFill>
                  <a:srgbClr val="00D4AA"/>
                </a:solidFill>
                <a:latin typeface="Calibri"/>
              </a:defRPr>
            </a:pPr>
            <a:r>
              <a:t>Engineer</a:t>
            </a:r>
            <a:br/>
            <a:r>
              <a:t>Authenticates</a:t>
            </a:r>
          </a:p>
          <a:p>
            <a:pPr algn="ctr">
              <a:defRPr sz="900">
                <a:solidFill>
                  <a:srgbClr val="A0A8B8"/>
                </a:solidFill>
                <a:latin typeface="Calibri"/>
              </a:defRPr>
            </a:pPr>
            <a:r>
              <a:t>SSO + WebAuthn</a:t>
            </a:r>
            <a:br/>
            <a:r>
              <a:t>MFA step-up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23160" y="4434840"/>
            <a:ext cx="320040" cy="228600"/>
          </a:xfrm>
          <a:prstGeom prst="rightArrow">
            <a:avLst/>
          </a:prstGeom>
          <a:solidFill>
            <a:srgbClr val="2A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4023360"/>
            <a:ext cx="1920240" cy="118872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38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400"/>
              </a:spcAft>
              <a:defRPr sz="1100" b="1">
                <a:solidFill>
                  <a:srgbClr val="388EFF"/>
                </a:solidFill>
                <a:latin typeface="Calibri"/>
              </a:defRPr>
            </a:pPr>
            <a:r>
              <a:t>Vault</a:t>
            </a:r>
            <a:br/>
            <a:r>
              <a:t>Unlocks</a:t>
            </a:r>
          </a:p>
          <a:p>
            <a:pPr algn="ctr">
              <a:defRPr sz="900">
                <a:solidFill>
                  <a:srgbClr val="A0A8B8"/>
                </a:solidFill>
                <a:latin typeface="Calibri"/>
              </a:defRPr>
            </a:pPr>
            <a:r>
              <a:t>AES-256-GCM</a:t>
            </a:r>
            <a:br/>
            <a:r>
              <a:t>Argon2id key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09160" y="4434840"/>
            <a:ext cx="320040" cy="228600"/>
          </a:xfrm>
          <a:prstGeom prst="rightArrow">
            <a:avLst/>
          </a:prstGeom>
          <a:solidFill>
            <a:srgbClr val="2A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4023360"/>
            <a:ext cx="1920240" cy="118872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400"/>
              </a:spcAft>
              <a:defRPr sz="1100" b="1">
                <a:solidFill>
                  <a:srgbClr val="A05CFF"/>
                </a:solidFill>
                <a:latin typeface="Calibri"/>
              </a:defRPr>
            </a:pPr>
            <a:r>
              <a:t>Connection</a:t>
            </a:r>
            <a:br/>
            <a:r>
              <a:t>Selected</a:t>
            </a:r>
          </a:p>
          <a:p>
            <a:pPr algn="ctr">
              <a:defRPr sz="900">
                <a:solidFill>
                  <a:srgbClr val="A0A8B8"/>
                </a:solidFill>
                <a:latin typeface="Calibri"/>
              </a:defRPr>
            </a:pPr>
            <a:r>
              <a:t>GPU node SSH</a:t>
            </a:r>
            <a:br/>
            <a:r>
              <a:t>or BMC VNC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95160" y="4434840"/>
            <a:ext cx="320040" cy="228600"/>
          </a:xfrm>
          <a:prstGeom prst="rightArrow">
            <a:avLst/>
          </a:prstGeom>
          <a:solidFill>
            <a:srgbClr val="2A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0" y="4023360"/>
            <a:ext cx="1920240" cy="118872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400"/>
              </a:spcAft>
              <a:defRPr sz="1100" b="1">
                <a:solidFill>
                  <a:srgbClr val="FF9F43"/>
                </a:solidFill>
                <a:latin typeface="Calibri"/>
              </a:defRPr>
            </a:pPr>
            <a:r>
              <a:t>Zero-Trust</a:t>
            </a:r>
            <a:br/>
            <a:r>
              <a:t>Tunnel</a:t>
            </a:r>
          </a:p>
          <a:p>
            <a:pPr algn="ctr">
              <a:defRPr sz="900">
                <a:solidFill>
                  <a:srgbClr val="A0A8B8"/>
                </a:solidFill>
                <a:latin typeface="Calibri"/>
              </a:defRPr>
            </a:pPr>
            <a:r>
              <a:t>Outbound agent</a:t>
            </a:r>
            <a:br/>
            <a:r>
              <a:t>in DC network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81160" y="4434840"/>
            <a:ext cx="320040" cy="228600"/>
          </a:xfrm>
          <a:prstGeom prst="rightArrow">
            <a:avLst/>
          </a:prstGeom>
          <a:solidFill>
            <a:srgbClr val="2A3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0" y="4023360"/>
            <a:ext cx="1920240" cy="1188720"/>
          </a:xfrm>
          <a:prstGeom prst="roundRect">
            <a:avLst/>
          </a:prstGeom>
          <a:solidFill>
            <a:srgbClr val="1A243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spcAft>
                <a:spcPts val="400"/>
              </a:spcAft>
              <a:defRPr sz="1100" b="1">
                <a:solidFill>
                  <a:srgbClr val="FF6B6B"/>
                </a:solidFill>
                <a:latin typeface="Calibri"/>
              </a:defRPr>
            </a:pPr>
            <a:r>
              <a:t>Session</a:t>
            </a:r>
            <a:br/>
            <a:r>
              <a:t>Recorded</a:t>
            </a:r>
          </a:p>
          <a:p>
            <a:pPr algn="ctr">
              <a:defRPr sz="900">
                <a:solidFill>
                  <a:srgbClr val="A0A8B8"/>
                </a:solidFill>
                <a:latin typeface="Calibri"/>
              </a:defRPr>
            </a:pPr>
            <a:r>
              <a:t>Audit trail</a:t>
            </a:r>
            <a:br/>
            <a:r>
              <a:t>Compliance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486400"/>
            <a:ext cx="2194560" cy="10972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00D4AA"/>
                </a:solidFill>
                <a:latin typeface="Calibri"/>
              </a:defRPr>
            </a:pPr>
            <a:r>
              <a:t>8,000+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GPU servers</a:t>
            </a:r>
            <a:br/>
            <a:r>
              <a:t>managed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5486400"/>
            <a:ext cx="2194560" cy="10972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388EFF"/>
                </a:solidFill>
                <a:latin typeface="Calibri"/>
              </a:defRPr>
            </a:pPr>
            <a:r>
              <a:t>150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Remote</a:t>
            </a:r>
            <a:br/>
            <a:r>
              <a:t>engineers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5486400"/>
            <a:ext cx="2194560" cy="10972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A05CFF"/>
                </a:solidFill>
                <a:latin typeface="Calibri"/>
              </a:defRPr>
            </a:pPr>
            <a:r>
              <a:t>12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Datacenters</a:t>
            </a:r>
            <a:br/>
            <a:r>
              <a:t>across 3 continents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5486400"/>
            <a:ext cx="2194560" cy="10972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spcAft>
                <a:spcPts val="400"/>
              </a:spcAft>
              <a:defRPr sz="3200" b="1">
                <a:solidFill>
                  <a:srgbClr val="FF9F43"/>
                </a:solidFill>
                <a:latin typeface="Calibri"/>
              </a:defRPr>
            </a:pPr>
            <a:r>
              <a:t>&lt; 1hr</a:t>
            </a:r>
          </a:p>
          <a:p>
            <a:pPr algn="ctr">
              <a:defRPr sz="1100">
                <a:solidFill>
                  <a:srgbClr val="A0A8B8"/>
                </a:solidFill>
                <a:latin typeface="Calibri"/>
              </a:defRPr>
            </a:pPr>
            <a:r>
              <a:t>Per-site</a:t>
            </a:r>
            <a:br/>
            <a:r>
              <a:t>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AI-ERA GROWTH DRIVERS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566928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83680" y="1188720"/>
            <a:ext cx="5029200" cy="10972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00D4AA"/>
                </a:solidFill>
                <a:latin typeface="Calibri"/>
              </a:defRPr>
            </a:pPr>
            <a:r>
              <a:t>💡 AI Infra Explosion</a:t>
            </a:r>
          </a:p>
          <a:p>
            <a:pPr>
              <a:defRPr sz="1100">
                <a:solidFill>
                  <a:srgbClr val="A0A8B8"/>
                </a:solidFill>
                <a:latin typeface="Calibri"/>
              </a:defRPr>
            </a:pPr>
            <a:r>
              <a:t>Every new GPU cluster = SSH/VNC endpoints to manage.</a:t>
            </a:r>
            <a:br/>
            <a:r>
              <a:t>AI datacenters projected to consume 12% of US electricity by 2028.</a:t>
            </a:r>
            <a:br/>
            <a:r>
              <a:t>Remote ops is the only scalable staffing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468880"/>
            <a:ext cx="5029200" cy="10972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388EFF"/>
                </a:solidFill>
                <a:latin typeface="Calibri"/>
              </a:defRPr>
            </a:pPr>
            <a:r>
              <a:t>🌍 Zero-Trust Mandates</a:t>
            </a:r>
          </a:p>
          <a:p>
            <a:pPr>
              <a:defRPr sz="1100">
                <a:solidFill>
                  <a:srgbClr val="A0A8B8"/>
                </a:solidFill>
                <a:latin typeface="Calibri"/>
              </a:defRPr>
            </a:pPr>
            <a:r>
              <a:t>NIST 800-207, CISA zero-trust maturity model.</a:t>
            </a:r>
            <a:br/>
            <a:r>
              <a:t>US federal EO 14028 mandates zero-trust by 2027.</a:t>
            </a:r>
            <a:br/>
            <a:r>
              <a:t>Enterprise adoption growing 35% YoY.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3931920"/>
          <a:ext cx="566928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0" y="3931920"/>
            <a:ext cx="5029200" cy="10972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A05CFF"/>
                </a:solidFill>
                <a:latin typeface="Calibri"/>
              </a:defRPr>
            </a:pPr>
            <a:r>
              <a:t>📋 Compliance as Sales Driver</a:t>
            </a:r>
          </a:p>
          <a:p>
            <a:pPr>
              <a:defRPr sz="1100">
                <a:solidFill>
                  <a:srgbClr val="A0A8B8"/>
                </a:solidFill>
                <a:latin typeface="Calibri"/>
              </a:defRPr>
            </a:pPr>
            <a:r>
              <a:t>Every compliance framework requires session recording,</a:t>
            </a:r>
            <a:br/>
            <a:r>
              <a:t>MFA, audit trails, and access control.</a:t>
            </a:r>
            <a:br/>
            <a:r>
              <a:t>Arsenale checks all boxes out of the box.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5212080"/>
            <a:ext cx="5029200" cy="10972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FF9F43"/>
                </a:solidFill>
                <a:latin typeface="Calibri"/>
              </a:defRPr>
            </a:pPr>
            <a:r>
              <a:t>💰 Open Source Advantage</a:t>
            </a:r>
          </a:p>
          <a:p>
            <a:pPr>
              <a:defRPr sz="1100">
                <a:solidFill>
                  <a:srgbClr val="A0A8B8"/>
                </a:solidFill>
                <a:latin typeface="Calibri"/>
              </a:defRPr>
            </a:pPr>
            <a:r>
              <a:t>BSL license builds trust and community adoption.</a:t>
            </a:r>
            <a:br/>
            <a:r>
              <a:t>Frictionless self-service onboarding.</a:t>
            </a:r>
            <a:br/>
            <a:r>
              <a:t>Convert to paid with multi-tenant + enterprise features.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4AA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280160"/>
            <a:ext cx="21031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Seed Round — Building the Future of Secure Remote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3291840" cy="20116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💰 Use of Funds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Engineering team (60%)</a:t>
            </a:r>
            <a:br/>
            <a:r>
              <a:t>Security certifications (15%)</a:t>
            </a:r>
            <a:br/>
            <a:r>
              <a:t>Go-to-market (15%)</a:t>
            </a:r>
            <a:br/>
            <a:r>
              <a:t>Infra &amp; operations (10%)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77440"/>
            <a:ext cx="3291840" cy="20116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🎯 Key Metrics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Deploy time: &lt; 1 hour</a:t>
            </a:r>
            <a:br/>
            <a:r>
              <a:t>Cost: 10-30x less than incumbents</a:t>
            </a:r>
            <a:br/>
            <a:r>
              <a:t>Protocols: SSH + RDP + VNC</a:t>
            </a:r>
            <a:br/>
            <a:r>
              <a:t>Security: zero-knowledge vault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377440"/>
            <a:ext cx="3291840" cy="20116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🚀 Why Now?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AI datacenter boom</a:t>
            </a:r>
            <a:br/>
            <a:r>
              <a:t>Remote work is permanent</a:t>
            </a:r>
            <a:br/>
            <a:r>
              <a:t>Zero-trust mandates growing</a:t>
            </a:r>
            <a:br/>
            <a:r>
              <a:t>PAM market CAGR 27.6%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31520" y="4480560"/>
          <a:ext cx="411480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120640" y="4572000"/>
            <a:ext cx="6217920" cy="20116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500" b="1">
                <a:solidFill>
                  <a:srgbClr val="00D4AA"/>
                </a:solidFill>
                <a:latin typeface="Calibri"/>
              </a:defRPr>
            </a:pPr>
            <a:r>
              <a:t>📅 18-Month Milestones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• Q2 2026: Managed cloud launch + first paying customers</a:t>
            </a:r>
            <a:br/>
            <a:r>
              <a:t>• Q3 2026: SOC 2 Type II certification complete</a:t>
            </a:r>
            <a:br/>
            <a:r>
              <a:t>• Q4 2026: 500+ community users, 20+ paid tenants</a:t>
            </a:r>
            <a:br/>
            <a:r>
              <a:t>• Q1 2027: AI datacenter vertical partnerships</a:t>
            </a:r>
            <a:br/>
            <a:r>
              <a:t>• Q2 2027: $500K ARR + Series A 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Calibri"/>
              </a:defRPr>
            </a:pPr>
            <a:r>
              <a:t>arsenale  •  github.com/dnviti/arsenale  •  Open-source core  •  Self-hosted  •  Enterprise-ready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